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89" r:id="rId5"/>
    <p:sldId id="273" r:id="rId6"/>
    <p:sldId id="290" r:id="rId7"/>
    <p:sldId id="293" r:id="rId8"/>
    <p:sldId id="294" r:id="rId9"/>
    <p:sldId id="287" r:id="rId10"/>
    <p:sldId id="295" r:id="rId11"/>
    <p:sldId id="292" r:id="rId12"/>
    <p:sldId id="270" r:id="rId13"/>
    <p:sldId id="268" r:id="rId14"/>
    <p:sldId id="296" r:id="rId15"/>
    <p:sldId id="297" r:id="rId16"/>
    <p:sldId id="298" r:id="rId17"/>
    <p:sldId id="29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01018439634752"/>
          <c:y val="7.081586134078062E-2"/>
          <c:w val="0.78852134513937466"/>
          <c:h val="0.65885281997742851"/>
        </c:manualLayout>
      </c:layout>
      <c:barChart>
        <c:barDir val="col"/>
        <c:grouping val="stacked"/>
        <c:varyColors val="0"/>
        <c:ser>
          <c:idx val="0"/>
          <c:order val="0"/>
          <c:tx>
            <c:v>Actual Cost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13"/>
              <c:pt idx="0">
                <c:v>Функционални</c:v>
              </c:pt>
              <c:pt idx="1">
                <c:v>Нефункционални</c:v>
              </c:pt>
              <c:pt idx="2">
                <c:v>   Архитектура</c:v>
              </c:pt>
              <c:pt idx="3">
                <c:v>План база данни</c:v>
              </c:pt>
              <c:pt idx="4">
                <c:v>План бизнес логика</c:v>
              </c:pt>
              <c:pt idx="5">
                <c:v>План потребителски интерфейс</c:v>
              </c:pt>
              <c:pt idx="6">
                <c:v>Създаване на базата</c:v>
              </c:pt>
              <c:pt idx="7">
                <c:v>Записване на информация в базата</c:v>
              </c:pt>
              <c:pt idx="8">
                <c:v>Създаване потребителски интерфейс</c:v>
              </c:pt>
              <c:pt idx="9">
                <c:v>Създаване бизнес логика</c:v>
              </c:pt>
              <c:pt idx="10">
                <c:v>Цялостно тестване</c:v>
              </c:pt>
              <c:pt idx="11">
                <c:v>Обща документация</c:v>
              </c:pt>
              <c:pt idx="12">
                <c:v>   Потребителска документация</c:v>
              </c:pt>
            </c:strLit>
          </c:cat>
          <c:val>
            <c:numLit>
              <c:formatCode>\$#,##0.00</c:formatCode>
              <c:ptCount val="13"/>
              <c:pt idx="0">
                <c:v>90</c:v>
              </c:pt>
              <c:pt idx="1">
                <c:v>86</c:v>
              </c:pt>
              <c:pt idx="2">
                <c:v>0</c:v>
              </c:pt>
              <c:pt idx="3">
                <c:v>90</c:v>
              </c:pt>
              <c:pt idx="4">
                <c:v>81.400000000000006</c:v>
              </c:pt>
              <c:pt idx="5">
                <c:v>90</c:v>
              </c:pt>
              <c:pt idx="6">
                <c:v>51.3</c:v>
              </c:pt>
              <c:pt idx="7">
                <c:v>47</c:v>
              </c:pt>
              <c:pt idx="8">
                <c:v>29.2</c:v>
              </c:pt>
              <c:pt idx="9">
                <c:v>0</c:v>
              </c:pt>
              <c:pt idx="10">
                <c:v>0</c:v>
              </c:pt>
              <c:pt idx="11">
                <c:v>52.8</c:v>
              </c:pt>
              <c:pt idx="12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FEE1-44C3-81D1-DD33D8AF9E69}"/>
            </c:ext>
          </c:extLst>
        </c:ser>
        <c:ser>
          <c:idx val="1"/>
          <c:order val="1"/>
          <c:tx>
            <c:v>Remaining Cost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13"/>
              <c:pt idx="0">
                <c:v>Функционални</c:v>
              </c:pt>
              <c:pt idx="1">
                <c:v>Нефункционални</c:v>
              </c:pt>
              <c:pt idx="2">
                <c:v>   Архитектура</c:v>
              </c:pt>
              <c:pt idx="3">
                <c:v>План база данни</c:v>
              </c:pt>
              <c:pt idx="4">
                <c:v>План бизнес логика</c:v>
              </c:pt>
              <c:pt idx="5">
                <c:v>План потребителски интерфейс</c:v>
              </c:pt>
              <c:pt idx="6">
                <c:v>Създаване на базата</c:v>
              </c:pt>
              <c:pt idx="7">
                <c:v>Записване на информация в базата</c:v>
              </c:pt>
              <c:pt idx="8">
                <c:v>Създаване потребителски интерфейс</c:v>
              </c:pt>
              <c:pt idx="9">
                <c:v>Създаване бизнес логика</c:v>
              </c:pt>
              <c:pt idx="10">
                <c:v>Цялостно тестване</c:v>
              </c:pt>
              <c:pt idx="11">
                <c:v>Обща документация</c:v>
              </c:pt>
              <c:pt idx="12">
                <c:v>   Потребителска документация</c:v>
              </c:pt>
            </c:strLit>
          </c:cat>
          <c:val>
            <c:numLit>
              <c:formatCode>\$#,##0.00</c:formatCode>
              <c:ptCount val="13"/>
              <c:pt idx="0">
                <c:v>0</c:v>
              </c:pt>
              <c:pt idx="1">
                <c:v>0</c:v>
              </c:pt>
              <c:pt idx="2">
                <c:v>90</c:v>
              </c:pt>
              <c:pt idx="3">
                <c:v>0</c:v>
              </c:pt>
              <c:pt idx="4">
                <c:v>8.6</c:v>
              </c:pt>
              <c:pt idx="5">
                <c:v>0</c:v>
              </c:pt>
              <c:pt idx="6">
                <c:v>38.700000000000003</c:v>
              </c:pt>
              <c:pt idx="7">
                <c:v>43</c:v>
              </c:pt>
              <c:pt idx="8">
                <c:v>58.8</c:v>
              </c:pt>
              <c:pt idx="9">
                <c:v>88</c:v>
              </c:pt>
              <c:pt idx="10">
                <c:v>168</c:v>
              </c:pt>
              <c:pt idx="11">
                <c:v>195.2</c:v>
              </c:pt>
              <c:pt idx="12">
                <c:v>88</c:v>
              </c:pt>
            </c:numLit>
          </c:val>
          <c:extLst>
            <c:ext xmlns:c16="http://schemas.microsoft.com/office/drawing/2014/chart" uri="{C3380CC4-5D6E-409C-BE32-E72D297353CC}">
              <c16:uniqueId val="{00000001-FEE1-44C3-81D1-DD33D8AF9E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100"/>
        <c:axId val="185102560"/>
        <c:axId val="108188656"/>
      </c:barChart>
      <c:lineChart>
        <c:grouping val="standard"/>
        <c:varyColors val="0"/>
        <c:ser>
          <c:idx val="2"/>
          <c:order val="2"/>
          <c:tx>
            <c:v>Baseline Cost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Lit>
              <c:ptCount val="13"/>
              <c:pt idx="0">
                <c:v>Функционални</c:v>
              </c:pt>
              <c:pt idx="1">
                <c:v>Нефункционални</c:v>
              </c:pt>
              <c:pt idx="2">
                <c:v>   Архитектура</c:v>
              </c:pt>
              <c:pt idx="3">
                <c:v>План база данни</c:v>
              </c:pt>
              <c:pt idx="4">
                <c:v>План бизнес логика</c:v>
              </c:pt>
              <c:pt idx="5">
                <c:v>План потребителски интерфейс</c:v>
              </c:pt>
              <c:pt idx="6">
                <c:v>Създаване на базата</c:v>
              </c:pt>
              <c:pt idx="7">
                <c:v>Записване на информация в базата</c:v>
              </c:pt>
              <c:pt idx="8">
                <c:v>Създаване потребителски интерфейс</c:v>
              </c:pt>
              <c:pt idx="9">
                <c:v>Създаване бизнес логика</c:v>
              </c:pt>
              <c:pt idx="10">
                <c:v>Цялостно тестване</c:v>
              </c:pt>
              <c:pt idx="11">
                <c:v>Обща документация</c:v>
              </c:pt>
              <c:pt idx="12">
                <c:v>   Потребителска документация</c:v>
              </c:pt>
            </c:strLit>
          </c:cat>
          <c:val>
            <c:numLit>
              <c:formatCode>\$#,##0.00</c:formatCode>
              <c:ptCount val="13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FEE1-44C3-81D1-DD33D8AF9E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102560"/>
        <c:axId val="108188656"/>
      </c:lineChart>
      <c:catAx>
        <c:axId val="185102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188656"/>
        <c:crosses val="autoZero"/>
        <c:auto val="1"/>
        <c:lblAlgn val="ctr"/>
        <c:lblOffset val="100"/>
        <c:noMultiLvlLbl val="0"/>
      </c:catAx>
      <c:valAx>
        <c:axId val="108188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102560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667733873812472"/>
          <c:y val="0.10326311441553077"/>
          <c:w val="0.78852134513937466"/>
          <c:h val="0.65885281997742851"/>
        </c:manualLayout>
      </c:layout>
      <c:barChart>
        <c:barDir val="col"/>
        <c:grouping val="stacked"/>
        <c:varyColors val="0"/>
        <c:ser>
          <c:idx val="0"/>
          <c:order val="0"/>
          <c:tx>
            <c:v>Actual Cost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1"/>
              <c:pt idx="0">
                <c:v>Илиян</c:v>
              </c:pt>
            </c:strLit>
          </c:cat>
          <c:val>
            <c:numLit>
              <c:formatCode>\$#,##0.00</c:formatCode>
              <c:ptCount val="1"/>
              <c:pt idx="0">
                <c:v>548.00000000000011</c:v>
              </c:pt>
            </c:numLit>
          </c:val>
          <c:extLst>
            <c:ext xmlns:c16="http://schemas.microsoft.com/office/drawing/2014/chart" uri="{C3380CC4-5D6E-409C-BE32-E72D297353CC}">
              <c16:uniqueId val="{00000000-0C3D-4872-82BA-EC3C0EAE4019}"/>
            </c:ext>
          </c:extLst>
        </c:ser>
        <c:ser>
          <c:idx val="1"/>
          <c:order val="1"/>
          <c:tx>
            <c:v>Remaining Cost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Lit>
              <c:ptCount val="1"/>
              <c:pt idx="0">
                <c:v>Илиян</c:v>
              </c:pt>
            </c:strLit>
          </c:cat>
          <c:val>
            <c:numLit>
              <c:formatCode>\$#,##0.00</c:formatCode>
              <c:ptCount val="1"/>
              <c:pt idx="0">
                <c:v>732</c:v>
              </c:pt>
            </c:numLit>
          </c:val>
          <c:extLst>
            <c:ext xmlns:c16="http://schemas.microsoft.com/office/drawing/2014/chart" uri="{C3380CC4-5D6E-409C-BE32-E72D297353CC}">
              <c16:uniqueId val="{00000001-0C3D-4872-82BA-EC3C0EAE4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100"/>
        <c:axId val="324971680"/>
        <c:axId val="320308992"/>
      </c:barChart>
      <c:lineChart>
        <c:grouping val="standard"/>
        <c:varyColors val="0"/>
        <c:ser>
          <c:idx val="2"/>
          <c:order val="2"/>
          <c:tx>
            <c:v>Baseline Cost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Lit>
              <c:ptCount val="1"/>
              <c:pt idx="0">
                <c:v>Илиян</c:v>
              </c:pt>
            </c:strLit>
          </c:cat>
          <c:val>
            <c:numLit>
              <c:formatCode>\$#,##0.00</c:formatCode>
              <c:ptCount val="1"/>
              <c:pt idx="0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0C3D-4872-82BA-EC3C0EAE4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4971680"/>
        <c:axId val="320308992"/>
      </c:lineChart>
      <c:catAx>
        <c:axId val="324971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0308992"/>
        <c:crosses val="autoZero"/>
        <c:auto val="1"/>
        <c:lblAlgn val="ctr"/>
        <c:lblOffset val="100"/>
        <c:noMultiLvlLbl val="0"/>
      </c:catAx>
      <c:valAx>
        <c:axId val="32030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971680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v>Cost</c:v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D6-4513-95AE-ACA7BED1F348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D6-4513-95AE-ACA7BED1F348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BD6-4513-95AE-ACA7BED1F34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Type: Work</c:v>
              </c:pt>
              <c:pt idx="1">
                <c:v>Type: Material</c:v>
              </c:pt>
              <c:pt idx="2">
                <c:v>Type: Cost</c:v>
              </c:pt>
            </c:strLit>
          </c:cat>
          <c:val>
            <c:numLit>
              <c:formatCode>\$#,##0.00</c:formatCode>
              <c:ptCount val="3"/>
              <c:pt idx="0">
                <c:v>1280.0000000000002</c:v>
              </c:pt>
              <c:pt idx="1">
                <c:v>116</c:v>
              </c:pt>
              <c:pt idx="2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6-7BD6-4513-95AE-ACA7BED1F34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Cost Variance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5"/>
              <c:pt idx="0">
                <c:v>електричество</c:v>
              </c:pt>
              <c:pt idx="1">
                <c:v>Илиян</c:v>
              </c:pt>
              <c:pt idx="2">
                <c:v>компютър</c:v>
              </c:pt>
              <c:pt idx="3">
                <c:v>изследване</c:v>
              </c:pt>
              <c:pt idx="4">
                <c:v>интернет</c:v>
              </c:pt>
            </c:strLit>
          </c:cat>
          <c:val>
            <c:numLit>
              <c:formatCode>\$#,##0.00</c:formatCode>
              <c:ptCount val="5"/>
              <c:pt idx="0">
                <c:v>52</c:v>
              </c:pt>
              <c:pt idx="1">
                <c:v>1280.0000000000002</c:v>
              </c:pt>
              <c:pt idx="2">
                <c:v>0</c:v>
              </c:pt>
              <c:pt idx="3">
                <c:v>16</c:v>
              </c:pt>
              <c:pt idx="4">
                <c:v>48</c:v>
              </c:pt>
            </c:numLit>
          </c:val>
          <c:extLst>
            <c:ext xmlns:c16="http://schemas.microsoft.com/office/drawing/2014/chart" uri="{C3380CC4-5D6E-409C-BE32-E72D297353CC}">
              <c16:uniqueId val="{00000000-E67E-489E-9B6F-0CC389CEB4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7685760"/>
        <c:axId val="169906688"/>
      </c:barChart>
      <c:catAx>
        <c:axId val="317685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906688"/>
        <c:crosses val="autoZero"/>
        <c:auto val="1"/>
        <c:lblAlgn val="ctr"/>
        <c:lblOffset val="100"/>
        <c:noMultiLvlLbl val="0"/>
      </c:catAx>
      <c:valAx>
        <c:axId val="16990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7685760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F7A84F-E231-42BE-A9F8-B5131853C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813BC-9E49-4ABB-A3C3-CEE0885B0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BDBEE-1FDA-4F57-947F-5759FA6ABC55}" type="datetimeFigureOut">
              <a:rPr lang="en-US" smtClean="0"/>
              <a:t>5/9/2022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DFF29-9BE4-4CDF-A198-BBEE303F0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4AFC6-5A97-4417-A16A-485E5801A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8C659-3DDB-48CB-A056-6A658A161B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7677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5/9/2022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5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17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575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064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538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317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80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+mn-lt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202246-9B90-4CE1-AAF1-3328E51AE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43DF42B-5E6A-409A-A205-0B59AE5FBD9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530301" y="1690689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C7A202D-9C81-48E9-AC0B-E4DDE20AE14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888689" y="170282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37076" y="170282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0506441-775A-4D93-ADE3-695C86D669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530301" y="384945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A00A08C-FA2D-44B5-9451-63F193A3E7B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888689" y="384945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A8F9540-8D26-4ADA-88E6-B9A742232C2D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1337076" y="384945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D7801BA-80A8-4F2C-90C8-155E6210A85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7634" y="1679576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99C7ED62-8CE2-417B-9E03-DB47D419110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99246" y="1679576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id="{96383197-4013-4D5E-BF47-64BD2386A4D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6282" y="1679576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28">
            <a:extLst>
              <a:ext uri="{FF2B5EF4-FFF2-40B4-BE49-F238E27FC236}">
                <a16:creationId xmlns:a16="http://schemas.microsoft.com/office/drawing/2014/main" id="{B2568099-B430-4F70-A248-1840860FFEE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7634" y="3792079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28">
            <a:extLst>
              <a:ext uri="{FF2B5EF4-FFF2-40B4-BE49-F238E27FC236}">
                <a16:creationId xmlns:a16="http://schemas.microsoft.com/office/drawing/2014/main" id="{82A0F640-3653-4074-BEAA-B09FF6E0B39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99246" y="3792079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28">
            <a:extLst>
              <a:ext uri="{FF2B5EF4-FFF2-40B4-BE49-F238E27FC236}">
                <a16:creationId xmlns:a16="http://schemas.microsoft.com/office/drawing/2014/main" id="{1723BD4F-261F-418F-B763-09039D2CA7B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26282" y="3792079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71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74348DE-EC54-4C62-948C-0B2BF9045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15389"/>
            <a:ext cx="12188825" cy="374261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A53E879-94A1-4659-9069-ED0D6F03014D}"/>
              </a:ext>
            </a:extLst>
          </p:cNvPr>
          <p:cNvSpPr/>
          <p:nvPr userDrawn="1"/>
        </p:nvSpPr>
        <p:spPr>
          <a:xfrm>
            <a:off x="2400" y="1999821"/>
            <a:ext cx="12189600" cy="11155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9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34047"/>
            <a:ext cx="5157787" cy="27556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9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34047"/>
            <a:ext cx="5183188" cy="27556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5339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99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5/9/2022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rofessionals collaborating at a table over a laptop">
            <a:extLst>
              <a:ext uri="{FF2B5EF4-FFF2-40B4-BE49-F238E27FC236}">
                <a16:creationId xmlns:a16="http://schemas.microsoft.com/office/drawing/2014/main" id="{1E745F20-F130-4708-BD5A-1A4FF4BE4D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9460" cy="6858000"/>
          </a:xfrm>
          <a:prstGeom prst="rect">
            <a:avLst/>
          </a:prstGeom>
        </p:spPr>
      </p:pic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 bwMode="ltGray">
          <a:xfrm>
            <a:off x="254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 bwMode="ltGray"/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bg-BG" sz="5000" dirty="0">
                <a:solidFill>
                  <a:schemeClr val="bg1"/>
                </a:solidFill>
              </a:rPr>
              <a:t>Система за разпределяне на задачи за няколко човека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Gray">
          <a:xfrm>
            <a:off x="7984404" y="5910927"/>
            <a:ext cx="410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/>
          <a:p>
            <a:r>
              <a:rPr lang="bg-BG" sz="2500" b="1" i="1" spc="65" dirty="0">
                <a:solidFill>
                  <a:schemeClr val="accent1"/>
                </a:solidFill>
                <a:cs typeface="Arial"/>
              </a:rPr>
              <a:t>Издал : Илиян Костов</a:t>
            </a:r>
            <a:endParaRPr lang="en-US" sz="2500" b="1" i="1" spc="65" dirty="0">
              <a:solidFill>
                <a:schemeClr val="accent1"/>
              </a:solidFill>
              <a:cs typeface="Arial"/>
            </a:endParaRP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 bwMode="white">
          <a:xfrm>
            <a:off x="4044000" y="3229869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People discuss something">
            <a:extLst>
              <a:ext uri="{FF2B5EF4-FFF2-40B4-BE49-F238E27FC236}">
                <a16:creationId xmlns:a16="http://schemas.microsoft.com/office/drawing/2014/main" id="{AA6A75DC-BE31-480B-B034-B1DF7AFA50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115389"/>
            <a:ext cx="12192000" cy="3742611"/>
          </a:xfr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id="{CDEEA71D-C3B3-45BB-A776-D17D92A58127}"/>
              </a:ext>
            </a:extLst>
          </p:cNvPr>
          <p:cNvSpPr/>
          <p:nvPr/>
        </p:nvSpPr>
        <p:spPr>
          <a:xfrm>
            <a:off x="2400" y="3115389"/>
            <a:ext cx="12189600" cy="3742611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id="{F336552F-CA64-452F-9BD8-01334388BFF5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ADB42F-AE48-4323-897F-DB5A083B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68" y="365125"/>
            <a:ext cx="10515600" cy="1325563"/>
          </a:xfrm>
        </p:spPr>
        <p:txBody>
          <a:bodyPr/>
          <a:lstStyle/>
          <a:p>
            <a:r>
              <a:rPr lang="bg-BG" dirty="0"/>
              <a:t>Описание на проекта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A73375-FA03-4191-8AD5-B40CD9B59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 bwMode="white">
          <a:xfrm>
            <a:off x="84841" y="1985963"/>
            <a:ext cx="11270547" cy="1030614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Основната функционалност на програмата е създаване и модифициране на задачи за екип , които съдържат заглавие , описание , дати и назначен член от екип .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0C6FDF-5982-4E37-B65D-F7B05D0FFB52}"/>
              </a:ext>
            </a:extLst>
          </p:cNvPr>
          <p:cNvSpPr>
            <a:spLocks noGrp="1"/>
          </p:cNvSpPr>
          <p:nvPr>
            <p:ph sz="quarter" idx="4"/>
          </p:nvPr>
        </p:nvSpPr>
        <p:spPr bwMode="white">
          <a:xfrm>
            <a:off x="245097" y="3434047"/>
            <a:ext cx="11110291" cy="275561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5000"/>
              </a:lnSpc>
              <a:spcBef>
                <a:spcPts val="100"/>
              </a:spcBef>
              <a:buClr>
                <a:schemeClr val="accent1"/>
              </a:buClr>
              <a:buNone/>
            </a:pPr>
            <a:r>
              <a:rPr lang="bg-BG" sz="2400" i="1" u="sng" spc="-5" dirty="0">
                <a:solidFill>
                  <a:srgbClr val="FFFFFF"/>
                </a:solidFill>
                <a:cs typeface="Arial"/>
              </a:rPr>
              <a:t>Функционалности</a:t>
            </a:r>
          </a:p>
          <a:p>
            <a:pPr>
              <a:lnSpc>
                <a:spcPct val="125000"/>
              </a:lnSpc>
              <a:spcBef>
                <a:spcPts val="100"/>
              </a:spcBef>
              <a:buClr>
                <a:schemeClr val="accent1"/>
              </a:buClr>
            </a:pPr>
            <a:r>
              <a:rPr lang="bg-BG" sz="1800" i="1" spc="-5" dirty="0">
                <a:solidFill>
                  <a:srgbClr val="FFFFFF"/>
                </a:solidFill>
                <a:cs typeface="Arial"/>
              </a:rPr>
              <a:t>Създаване на нови задачи</a:t>
            </a:r>
          </a:p>
          <a:p>
            <a:pPr>
              <a:lnSpc>
                <a:spcPct val="125000"/>
              </a:lnSpc>
              <a:spcBef>
                <a:spcPts val="100"/>
              </a:spcBef>
              <a:buClr>
                <a:schemeClr val="accent1"/>
              </a:buClr>
            </a:pPr>
            <a:r>
              <a:rPr lang="bg-BG" sz="1800" i="1" spc="-5" dirty="0">
                <a:solidFill>
                  <a:srgbClr val="FFFFFF"/>
                </a:solidFill>
                <a:cs typeface="Arial"/>
              </a:rPr>
              <a:t>Назначаване на задача на член от екип</a:t>
            </a:r>
          </a:p>
          <a:p>
            <a:pPr>
              <a:lnSpc>
                <a:spcPct val="125000"/>
              </a:lnSpc>
              <a:spcBef>
                <a:spcPts val="100"/>
              </a:spcBef>
              <a:buClr>
                <a:schemeClr val="accent1"/>
              </a:buClr>
            </a:pPr>
            <a:r>
              <a:rPr lang="bg-BG" sz="1800" i="1" spc="-5" dirty="0">
                <a:solidFill>
                  <a:srgbClr val="FFFFFF"/>
                </a:solidFill>
                <a:cs typeface="Arial"/>
              </a:rPr>
              <a:t>Дъска на задачи</a:t>
            </a:r>
          </a:p>
          <a:p>
            <a:pPr>
              <a:lnSpc>
                <a:spcPct val="125000"/>
              </a:lnSpc>
              <a:spcBef>
                <a:spcPts val="100"/>
              </a:spcBef>
              <a:buClr>
                <a:schemeClr val="accent1"/>
              </a:buClr>
            </a:pPr>
            <a:r>
              <a:rPr lang="bg-BG" sz="1800" i="1" spc="-5" dirty="0">
                <a:solidFill>
                  <a:srgbClr val="FFFFFF"/>
                </a:solidFill>
                <a:cs typeface="Arial"/>
              </a:rPr>
              <a:t>Смяна на статус на задача</a:t>
            </a:r>
          </a:p>
          <a:p>
            <a:pPr>
              <a:lnSpc>
                <a:spcPct val="125000"/>
              </a:lnSpc>
              <a:spcBef>
                <a:spcPts val="100"/>
              </a:spcBef>
              <a:buClr>
                <a:schemeClr val="accent1"/>
              </a:buClr>
            </a:pPr>
            <a:r>
              <a:rPr lang="bg-BG" sz="1800" i="1" spc="-5" dirty="0">
                <a:solidFill>
                  <a:srgbClr val="FFFFFF"/>
                </a:solidFill>
                <a:cs typeface="Arial"/>
              </a:rPr>
              <a:t>Търсене на задача</a:t>
            </a:r>
            <a:endParaRPr lang="en-US" sz="1800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F7FB6B-EAC9-40F7-9522-61A8D53E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890F7762-BD37-4D33-9F80-1DA07B5E172E}"/>
              </a:ext>
            </a:extLst>
          </p:cNvPr>
          <p:cNvSpPr/>
          <p:nvPr/>
        </p:nvSpPr>
        <p:spPr>
          <a:xfrm>
            <a:off x="915637" y="1346384"/>
            <a:ext cx="3672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01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760E-5794-42A9-8E56-3837F4F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Бюджет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351522-D6A9-4849-85EE-913E456D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7593E25A-C238-4F4D-B05B-996628D42B7D}"/>
              </a:ext>
            </a:extLst>
          </p:cNvPr>
          <p:cNvSpPr/>
          <p:nvPr/>
        </p:nvSpPr>
        <p:spPr>
          <a:xfrm>
            <a:off x="927187" y="1346810"/>
            <a:ext cx="3744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D5593EA-51A6-4361-B010-0E549EC37F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0847991"/>
              </p:ext>
            </p:extLst>
          </p:nvPr>
        </p:nvGraphicFramePr>
        <p:xfrm>
          <a:off x="477520" y="1869439"/>
          <a:ext cx="10991324" cy="4856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950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DF9786A-8FED-4035-84BE-4E06EDF100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208365"/>
              </p:ext>
            </p:extLst>
          </p:nvPr>
        </p:nvGraphicFramePr>
        <p:xfrm>
          <a:off x="838200" y="1825625"/>
          <a:ext cx="5221288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28D407F-7E62-4F87-A4A0-9D6CB2EA6B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6094866"/>
              </p:ext>
            </p:extLst>
          </p:nvPr>
        </p:nvGraphicFramePr>
        <p:xfrm>
          <a:off x="6130925" y="1825625"/>
          <a:ext cx="5221288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19E3CD6-9306-49EC-9FBF-0EFE1501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bg-BG" dirty="0"/>
              <a:t>Разпределяне на работа на бюджета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D25BDE-83F4-4CAF-AF91-65932D9E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noProof="0" smtClean="0"/>
              <a:pPr>
                <a:spcAft>
                  <a:spcPts val="600"/>
                </a:spcAft>
              </a:pPr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2780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79FC-E403-4D14-9D31-724D68AF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Разпределение на бюджета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2EA384-95FB-47F6-9EE7-DD55F6542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5</a:t>
            </a:fld>
            <a:endParaRPr lang="en-US" noProof="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25BDA08-B1E0-4FE0-A9A1-97907C871F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0647775"/>
              </p:ext>
            </p:extLst>
          </p:nvPr>
        </p:nvGraphicFramePr>
        <p:xfrm>
          <a:off x="1524001" y="2057399"/>
          <a:ext cx="8554720" cy="4004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52734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3" descr="People's hands">
            <a:extLst>
              <a:ext uri="{FF2B5EF4-FFF2-40B4-BE49-F238E27FC236}">
                <a16:creationId xmlns:a16="http://schemas.microsoft.com/office/drawing/2014/main" id="{3473867A-FBFD-45C7-BD5B-FDE711A8E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0" y="0"/>
            <a:ext cx="12192000" cy="6858000"/>
          </a:xfrm>
          <a:prstGeom prst="rect">
            <a:avLst/>
          </a:prstGeom>
        </p:spPr>
      </p:pic>
      <p:sp>
        <p:nvSpPr>
          <p:cNvPr id="5" name="object 3" descr="Blue rectangle">
            <a:extLst>
              <a:ext uri="{FF2B5EF4-FFF2-40B4-BE49-F238E27FC236}">
                <a16:creationId xmlns:a16="http://schemas.microsoft.com/office/drawing/2014/main" id="{33BB357B-B238-4C43-8242-F33D9E1D4905}"/>
              </a:ext>
            </a:extLst>
          </p:cNvPr>
          <p:cNvSpPr/>
          <p:nvPr/>
        </p:nvSpPr>
        <p:spPr>
          <a:xfrm>
            <a:off x="-12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Oval 6" descr="Beige oval">
            <a:extLst>
              <a:ext uri="{FF2B5EF4-FFF2-40B4-BE49-F238E27FC236}">
                <a16:creationId xmlns:a16="http://schemas.microsoft.com/office/drawing/2014/main" id="{5E8475D7-5EB4-4E70-AD4D-D32B1FB40E6E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592443CF-1BB0-4648-AEBA-9AFB75D72A99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Система за управление на проекта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16D174-C1FB-4494-B78F-EFF7C645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912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3C19A568-7E73-443A-A183-2C3EDA0087DF}"/>
              </a:ext>
            </a:extLst>
          </p:cNvPr>
          <p:cNvSpPr/>
          <p:nvPr/>
        </p:nvSpPr>
        <p:spPr bwMode="white">
          <a:xfrm>
            <a:off x="944410" y="1345847"/>
            <a:ext cx="4356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C88846-C6B8-4471-8245-3D9BD57F6F3C}"/>
              </a:ext>
            </a:extLst>
          </p:cNvPr>
          <p:cNvSpPr txBox="1"/>
          <p:nvPr/>
        </p:nvSpPr>
        <p:spPr>
          <a:xfrm>
            <a:off x="75413" y="1345847"/>
            <a:ext cx="11915481" cy="5868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Jira :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Полезно</a:t>
            </a:r>
            <a:r>
              <a:rPr lang="en-US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по-добра</a:t>
            </a:r>
            <a:r>
              <a:rPr lang="en-US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видимост</a:t>
            </a:r>
            <a:r>
              <a:rPr lang="en-US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bg-BG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По-добро приоритизиране - Когато даден софтуер е в процес на разработка</a:t>
            </a:r>
            <a:r>
              <a:rPr lang="en-US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bg-BG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задачите могат да се приоритизират и  помагат на разработчиците да изпълнят задачите по-бързо и по правилен начин преди дадения краен срок 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bg-BG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Повишена производителност 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bg-BG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Безплатен за използване 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bg-BG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Време - Проследяване - Използвайки инструмента JIRA, може да проследява времето за всяка задача, както и колко време е прекарано за конкретната задача от началото до края .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bg-BG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Генериране на отчети - инструментът JIRA е много полезен за изтегляне на отчетите на базата на Задачи и време, прекарано за конкретната задача за бъдеща цел. Той предоставя начин за изтегляне на списък със задачи, назначения, репортер и цялата информация относно всяка задача.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81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F2D9-6542-4A2A-8940-BB419CFD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bg-BG" dirty="0"/>
              <a:t>Система за управление на проекта</a:t>
            </a:r>
            <a:endParaRPr lang="en-US" dirty="0"/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4986C62-00BF-4D14-AF93-D6E1A73AE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2" y="1442719"/>
            <a:ext cx="11857158" cy="5097307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D1FF0D-B621-41D6-B73C-9F8D9F30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noProof="0" smtClean="0"/>
              <a:pPr>
                <a:spcAft>
                  <a:spcPts val="600"/>
                </a:spcAft>
              </a:pPr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643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Blue rectangle">
            <a:extLst>
              <a:ext uri="{FF2B5EF4-FFF2-40B4-BE49-F238E27FC236}">
                <a16:creationId xmlns:a16="http://schemas.microsoft.com/office/drawing/2014/main" id="{7D87B918-371C-4B31-9C7A-1D9A08C8A3BB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8" name="object 3" descr="Blue rectangle">
            <a:extLst>
              <a:ext uri="{FF2B5EF4-FFF2-40B4-BE49-F238E27FC236}">
                <a16:creationId xmlns:a16="http://schemas.microsoft.com/office/drawing/2014/main" id="{A277388B-76FD-44C4-B506-F8A157E57C65}"/>
              </a:ext>
            </a:extLst>
          </p:cNvPr>
          <p:cNvSpPr/>
          <p:nvPr/>
        </p:nvSpPr>
        <p:spPr>
          <a:xfrm>
            <a:off x="24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Oval 8" descr="Beige oval">
            <a:extLst>
              <a:ext uri="{FF2B5EF4-FFF2-40B4-BE49-F238E27FC236}">
                <a16:creationId xmlns:a16="http://schemas.microsoft.com/office/drawing/2014/main" id="{1191A09B-8CB4-416A-B1F9-ABC3B476DE1F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00B79-44BB-4D5F-B51D-2270A854D77A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838200" y="329956"/>
            <a:ext cx="10515600" cy="1325563"/>
          </a:xfrm>
        </p:spPr>
        <p:txBody>
          <a:bodyPr/>
          <a:lstStyle/>
          <a:p>
            <a:r>
              <a:rPr lang="bg-BG" dirty="0">
                <a:solidFill>
                  <a:schemeClr val="bg1"/>
                </a:solidFill>
              </a:rPr>
              <a:t>Недостатъци на </a:t>
            </a:r>
            <a:r>
              <a:rPr lang="en-US" dirty="0">
                <a:solidFill>
                  <a:schemeClr val="bg1"/>
                </a:solidFill>
              </a:rPr>
              <a:t>Jira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3C1EE-D9A0-406A-9A3A-75C8252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object 5" descr="Beige rectangle">
            <a:extLst>
              <a:ext uri="{FF2B5EF4-FFF2-40B4-BE49-F238E27FC236}">
                <a16:creationId xmlns:a16="http://schemas.microsoft.com/office/drawing/2014/main" id="{B07BA1F9-2C19-4C07-B29B-18B9FBCC4755}"/>
              </a:ext>
            </a:extLst>
          </p:cNvPr>
          <p:cNvSpPr/>
          <p:nvPr/>
        </p:nvSpPr>
        <p:spPr bwMode="white">
          <a:xfrm>
            <a:off x="947607" y="1324564"/>
            <a:ext cx="4536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cxnSp>
        <p:nvCxnSpPr>
          <p:cNvPr id="12" name="Straight Connector 11" descr="Line">
            <a:extLst>
              <a:ext uri="{FF2B5EF4-FFF2-40B4-BE49-F238E27FC236}">
                <a16:creationId xmlns:a16="http://schemas.microsoft.com/office/drawing/2014/main" id="{0D4D8421-B427-472B-95AE-FBBC914ACC5F}"/>
              </a:ext>
            </a:extLst>
          </p:cNvPr>
          <p:cNvCxnSpPr/>
          <p:nvPr/>
        </p:nvCxnSpPr>
        <p:spPr>
          <a:xfrm>
            <a:off x="6096000" y="4101403"/>
            <a:ext cx="0" cy="396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D403FF0-9FC4-4E21-98F0-97B7D55AC73D}"/>
              </a:ext>
            </a:extLst>
          </p:cNvPr>
          <p:cNvSpPr txBox="1"/>
          <p:nvPr/>
        </p:nvSpPr>
        <p:spPr>
          <a:xfrm>
            <a:off x="838200" y="1989056"/>
            <a:ext cx="10822757" cy="2028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Качване с ограничен размер на файла.</a:t>
            </a:r>
            <a:endParaRPr lang="en-US" sz="24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Отчетите не могат да се използват повторно.</a:t>
            </a:r>
            <a:endParaRPr lang="en-US" sz="24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Объркващ потребителски интерфейс.</a:t>
            </a:r>
            <a:endParaRPr lang="en-US" sz="24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67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 descr="Two person handshake">
            <a:extLst>
              <a:ext uri="{FF2B5EF4-FFF2-40B4-BE49-F238E27FC236}">
                <a16:creationId xmlns:a16="http://schemas.microsoft.com/office/drawing/2014/main" id="{42EF1974-141C-494C-A63E-216742273C6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2" name="object 3" descr="Blue rectangle">
            <a:extLst>
              <a:ext uri="{FF2B5EF4-FFF2-40B4-BE49-F238E27FC236}">
                <a16:creationId xmlns:a16="http://schemas.microsoft.com/office/drawing/2014/main" id="{2D225086-68BE-4168-8F17-9443ADD89675}"/>
              </a:ext>
            </a:extLst>
          </p:cNvPr>
          <p:cNvSpPr/>
          <p:nvPr/>
        </p:nvSpPr>
        <p:spPr>
          <a:xfrm>
            <a:off x="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3" name="Oval 22" descr="Beige oval">
            <a:extLst>
              <a:ext uri="{FF2B5EF4-FFF2-40B4-BE49-F238E27FC236}">
                <a16:creationId xmlns:a16="http://schemas.microsoft.com/office/drawing/2014/main" id="{433945EE-A7C1-410E-BF29-F5CEA2F4F576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90A3AE-E658-426D-96CD-CB0614B7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BDEDF39-62EC-40AF-98F4-06A79F1F80F1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818028" y="365125"/>
            <a:ext cx="10515600" cy="1325563"/>
          </a:xfrm>
        </p:spPr>
        <p:txBody>
          <a:bodyPr/>
          <a:lstStyle/>
          <a:p>
            <a:r>
              <a:rPr lang="bg-BG" dirty="0"/>
              <a:t>Методология за разработка </a:t>
            </a:r>
            <a:r>
              <a:rPr lang="en-US" dirty="0"/>
              <a:t>- Kanban</a:t>
            </a:r>
          </a:p>
        </p:txBody>
      </p:sp>
      <p:sp>
        <p:nvSpPr>
          <p:cNvPr id="24" name="object 5" descr="Beige rectangle">
            <a:extLst>
              <a:ext uri="{FF2B5EF4-FFF2-40B4-BE49-F238E27FC236}">
                <a16:creationId xmlns:a16="http://schemas.microsoft.com/office/drawing/2014/main" id="{73ED10AC-D04B-401B-A6A1-6069912D1664}"/>
              </a:ext>
            </a:extLst>
          </p:cNvPr>
          <p:cNvSpPr/>
          <p:nvPr/>
        </p:nvSpPr>
        <p:spPr bwMode="ltGray">
          <a:xfrm>
            <a:off x="929705" y="1339122"/>
            <a:ext cx="3060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2D43C8-6C2C-43FE-9264-1CADA463EAA1}"/>
              </a:ext>
            </a:extLst>
          </p:cNvPr>
          <p:cNvSpPr txBox="1"/>
          <p:nvPr/>
        </p:nvSpPr>
        <p:spPr>
          <a:xfrm>
            <a:off x="6620805" y="2284825"/>
            <a:ext cx="5685106" cy="3979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bg-BG" sz="18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По-добра видимост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bg-BG" sz="18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Подобрена ефективност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bg-BG" sz="18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Повишена производителност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bg-BG" sz="18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Предотвратяване на претоварването на екипа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bg-BG" sz="18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Повишен екипен фокус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bg-BG" sz="18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Гъвкавост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bg-BG" sz="18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Подобрено сътрудничество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bg-BG" sz="18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Ясна предсказуемост</a:t>
            </a:r>
            <a:r>
              <a:rPr lang="bg-BG" sz="20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dirty="0">
                <a:solidFill>
                  <a:schemeClr val="bg1"/>
                </a:solidFill>
                <a:effectLst/>
                <a:latin typeface="Microsoft Sans Serif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 процеса на проекта</a:t>
            </a:r>
            <a:endParaRPr lang="en-US" sz="2000" dirty="0">
              <a:solidFill>
                <a:schemeClr val="bg1"/>
              </a:solidFill>
              <a:effectLst/>
              <a:latin typeface="Microsoft Sans Serif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6" name="Picture 45" descr="A picture containing timeline&#10;&#10;Description automatically generated">
            <a:extLst>
              <a:ext uri="{FF2B5EF4-FFF2-40B4-BE49-F238E27FC236}">
                <a16:creationId xmlns:a16="http://schemas.microsoft.com/office/drawing/2014/main" id="{BCDFC87B-47A8-4D16-A09E-5A91D3174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6" y="1838425"/>
            <a:ext cx="6540231" cy="484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3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Placeholder 46" descr="People discuss something">
            <a:extLst>
              <a:ext uri="{FF2B5EF4-FFF2-40B4-BE49-F238E27FC236}">
                <a16:creationId xmlns:a16="http://schemas.microsoft.com/office/drawing/2014/main" id="{0FD54BB1-BA8F-46B1-AE35-C73B73A4821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0"/>
            <a:ext cx="12189599" cy="6856649"/>
          </a:xfrm>
        </p:spPr>
      </p:pic>
      <p:sp>
        <p:nvSpPr>
          <p:cNvPr id="35" name="object 3" descr="Blue rectangle">
            <a:extLst>
              <a:ext uri="{FF2B5EF4-FFF2-40B4-BE49-F238E27FC236}">
                <a16:creationId xmlns:a16="http://schemas.microsoft.com/office/drawing/2014/main" id="{9206F938-D64B-410D-BE2D-847D78F81E42}"/>
              </a:ext>
            </a:extLst>
          </p:cNvPr>
          <p:cNvSpPr/>
          <p:nvPr/>
        </p:nvSpPr>
        <p:spPr>
          <a:xfrm>
            <a:off x="3600" y="0"/>
            <a:ext cx="121884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8" name="Oval 47" descr="Beige oval">
            <a:extLst>
              <a:ext uri="{FF2B5EF4-FFF2-40B4-BE49-F238E27FC236}">
                <a16:creationId xmlns:a16="http://schemas.microsoft.com/office/drawing/2014/main" id="{7799BEE8-A94D-443E-9846-2D1F32C5794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E755E-A3DE-48FA-953D-4B2CFF01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58CBCC-46BE-4654-9B01-07B35CF17C32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kumimoji="0" lang="bg-BG" sz="40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Система за контрол на версиите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object 6" descr="Beige rectangle">
            <a:extLst>
              <a:ext uri="{FF2B5EF4-FFF2-40B4-BE49-F238E27FC236}">
                <a16:creationId xmlns:a16="http://schemas.microsoft.com/office/drawing/2014/main" id="{E67B2D0F-2920-4165-BC82-05237362DABB}"/>
              </a:ext>
            </a:extLst>
          </p:cNvPr>
          <p:cNvSpPr/>
          <p:nvPr/>
        </p:nvSpPr>
        <p:spPr bwMode="ltGray">
          <a:xfrm>
            <a:off x="957251" y="1352776"/>
            <a:ext cx="2124000" cy="0"/>
          </a:xfrm>
          <a:custGeom>
            <a:avLst/>
            <a:gdLst/>
            <a:ahLst/>
            <a:cxnLst/>
            <a:rect l="l" t="t" r="r" b="b"/>
            <a:pathLst>
              <a:path w="1934210">
                <a:moveTo>
                  <a:pt x="0" y="0"/>
                </a:moveTo>
                <a:lnTo>
                  <a:pt x="193360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F098AA7F-963D-4168-87C9-406221B15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14" y="1514820"/>
            <a:ext cx="2327037" cy="23270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B7E53A1-D41E-447F-ADCB-44986A577F99}"/>
              </a:ext>
            </a:extLst>
          </p:cNvPr>
          <p:cNvSpPr txBox="1"/>
          <p:nvPr/>
        </p:nvSpPr>
        <p:spPr>
          <a:xfrm>
            <a:off x="2792666" y="2271562"/>
            <a:ext cx="81993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</a:rPr>
              <a:t>Едновременно развитие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</a:rPr>
              <a:t>По-бързи издания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</a:rPr>
              <a:t>Вградена интеграция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</a:rPr>
              <a:t>Силна подкрепа от общността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</a:rPr>
              <a:t>Git работи с всеки екип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Pull </a:t>
            </a:r>
            <a:r>
              <a:rPr lang="bg-BG" sz="2800" dirty="0">
                <a:solidFill>
                  <a:schemeClr val="bg1"/>
                </a:solidFill>
              </a:rPr>
              <a:t>заявки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Branch</a:t>
            </a:r>
            <a:r>
              <a:rPr lang="ru-RU" sz="2800" dirty="0">
                <a:solidFill>
                  <a:schemeClr val="bg1"/>
                </a:solidFill>
              </a:rPr>
              <a:t> политики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904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4AD03-166E-46D1-8183-C6056ED8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4" name="Picture 3" descr="Chart&#10;&#10;Description automatically generated with low confidence">
            <a:extLst>
              <a:ext uri="{FF2B5EF4-FFF2-40B4-BE49-F238E27FC236}">
                <a16:creationId xmlns:a16="http://schemas.microsoft.com/office/drawing/2014/main" id="{5139B70A-9F15-46F4-ACB2-DC21C9F49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317"/>
            <a:ext cx="12126940" cy="515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57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0CE3E-169C-4C5C-91E7-B795C1E7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99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8F1E3A-DAEA-4870-9982-E894371B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12</a:t>
            </a:fld>
            <a:endParaRPr lang="en-US" noProof="0" dirty="0"/>
          </a:p>
        </p:txBody>
      </p:sp>
      <p:pic>
        <p:nvPicPr>
          <p:cNvPr id="5" name="Picture 4" descr="A picture containing timeline&#10;&#10;Description automatically generated">
            <a:extLst>
              <a:ext uri="{FF2B5EF4-FFF2-40B4-BE49-F238E27FC236}">
                <a16:creationId xmlns:a16="http://schemas.microsoft.com/office/drawing/2014/main" id="{51A4E494-4497-451B-BFBD-640391922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463" y="1553979"/>
            <a:ext cx="6573520" cy="530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494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E65FD37-4E21-4C28-86C4-FA8D1F1AB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888" y="1825625"/>
            <a:ext cx="2490788" cy="1492250"/>
          </a:xfrm>
          <a:prstGeom prst="rect">
            <a:avLst/>
          </a:prstGeom>
        </p:spPr>
      </p:pic>
      <p:pic>
        <p:nvPicPr>
          <p:cNvPr id="11" name="Picture 10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97B49B74-0910-4207-ACB0-0313BE305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588" y="1825625"/>
            <a:ext cx="1831975" cy="1492250"/>
          </a:xfrm>
          <a:prstGeom prst="rect">
            <a:avLst/>
          </a:prstGeom>
        </p:spPr>
      </p:pic>
      <p:pic>
        <p:nvPicPr>
          <p:cNvPr id="19" name="Picture 1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499CF61-2327-4110-8D48-8035A0FF3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475" y="1825625"/>
            <a:ext cx="1866900" cy="1492250"/>
          </a:xfrm>
          <a:prstGeom prst="rect">
            <a:avLst/>
          </a:prstGeom>
        </p:spPr>
      </p:pic>
      <p:pic>
        <p:nvPicPr>
          <p:cNvPr id="17" name="Picture 16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DAF51BF0-A7BF-4075-81A0-E4C0BF1645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888" y="3379788"/>
            <a:ext cx="3465513" cy="2795588"/>
          </a:xfrm>
          <a:prstGeom prst="rect">
            <a:avLst/>
          </a:prstGeom>
        </p:spPr>
      </p:pic>
      <p:pic>
        <p:nvPicPr>
          <p:cNvPr id="7" name="Picture 6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6835B46B-8F95-42AD-A570-4D31844D64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3" y="3379788"/>
            <a:ext cx="2786063" cy="1619250"/>
          </a:xfrm>
          <a:prstGeom prst="rect">
            <a:avLst/>
          </a:prstGeom>
        </p:spPr>
      </p:pic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7EE3C8A8-212A-4050-8293-4140C41E1D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3" y="5062538"/>
            <a:ext cx="2786063" cy="1114425"/>
          </a:xfrm>
          <a:prstGeom prst="rect">
            <a:avLst/>
          </a:prstGeom>
        </p:spPr>
      </p:pic>
      <p:pic>
        <p:nvPicPr>
          <p:cNvPr id="9" name="Picture 8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453DE7D9-005B-492D-A444-F906AA220C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288" y="1825625"/>
            <a:ext cx="2790825" cy="1917700"/>
          </a:xfrm>
          <a:prstGeom prst="rect">
            <a:avLst/>
          </a:prstGeom>
        </p:spPr>
      </p:pic>
      <p:pic>
        <p:nvPicPr>
          <p:cNvPr id="15" name="Picture 14" descr="Graphical user interface&#10;&#10;Description automatically generated">
            <a:extLst>
              <a:ext uri="{FF2B5EF4-FFF2-40B4-BE49-F238E27FC236}">
                <a16:creationId xmlns:a16="http://schemas.microsoft.com/office/drawing/2014/main" id="{1508BD42-5447-4B50-A651-9C7239CEB6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288" y="3805238"/>
            <a:ext cx="2790825" cy="23717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20603F-ED72-4118-9030-750D66D64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K</a:t>
            </a:r>
            <a:r>
              <a:rPr lang="bg-BG"/>
              <a:t>раен продукт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6B1CDC-A91A-4931-8310-735F1725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noProof="0" smtClean="0"/>
              <a:pPr>
                <a:spcAft>
                  <a:spcPts val="600"/>
                </a:spcAft>
              </a:pPr>
              <a:t>13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4330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F2A6-7A4B-4BAE-9FE5-9E3AD796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Възможности за бъдеща разработка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3963E-317B-4CAD-AA1F-F8DB4051F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1800" dirty="0">
                <a:solidFill>
                  <a:schemeClr val="accent3"/>
                </a:solidFill>
              </a:rPr>
              <a:t>Добавена функционалност за регистрация</a:t>
            </a:r>
          </a:p>
          <a:p>
            <a:r>
              <a:rPr lang="bg-BG" sz="1800" dirty="0">
                <a:solidFill>
                  <a:schemeClr val="accent3"/>
                </a:solidFill>
              </a:rPr>
              <a:t>Добавен лимит за максимална бройка на задачи , назначена на потребител .</a:t>
            </a:r>
          </a:p>
          <a:p>
            <a:r>
              <a:rPr lang="bg-BG" sz="1800" dirty="0">
                <a:solidFill>
                  <a:schemeClr val="accent3"/>
                </a:solidFill>
              </a:rPr>
              <a:t>След влизане към системата , да се изисква </a:t>
            </a:r>
            <a:r>
              <a:rPr lang="en-US" sz="1800" dirty="0">
                <a:solidFill>
                  <a:schemeClr val="accent3"/>
                </a:solidFill>
              </a:rPr>
              <a:t>Two Factor Authentication</a:t>
            </a:r>
            <a:r>
              <a:rPr lang="bg-BG" sz="1800" dirty="0">
                <a:solidFill>
                  <a:schemeClr val="accent3"/>
                </a:solidFill>
              </a:rPr>
              <a:t> или </a:t>
            </a:r>
            <a:r>
              <a:rPr lang="en-US" sz="1800" dirty="0">
                <a:solidFill>
                  <a:schemeClr val="accent3"/>
                </a:solidFill>
              </a:rPr>
              <a:t>Single sign on</a:t>
            </a:r>
          </a:p>
          <a:p>
            <a:r>
              <a:rPr lang="bg-BG" sz="1800" dirty="0">
                <a:solidFill>
                  <a:schemeClr val="accent3"/>
                </a:solidFill>
              </a:rPr>
              <a:t>Добавен атрибут на задача : приориотет</a:t>
            </a:r>
          </a:p>
          <a:p>
            <a:r>
              <a:rPr lang="bg-BG" sz="1800" dirty="0">
                <a:solidFill>
                  <a:schemeClr val="accent3"/>
                </a:solidFill>
              </a:rPr>
              <a:t>Добавена услуга , където при всяко назначаване автоматично да се праща съобщение на назначения потребител</a:t>
            </a:r>
          </a:p>
          <a:p>
            <a:r>
              <a:rPr lang="bg-BG" sz="1800" dirty="0">
                <a:solidFill>
                  <a:schemeClr val="accent3"/>
                </a:solidFill>
              </a:rPr>
              <a:t>Добавена услуга , където при полето за описание да се добави опцията за тагване на потребители </a:t>
            </a:r>
          </a:p>
          <a:p>
            <a:r>
              <a:rPr lang="bg-BG" sz="1800" dirty="0">
                <a:solidFill>
                  <a:schemeClr val="accent3"/>
                </a:solidFill>
              </a:rPr>
              <a:t>Добавена функция , където задачата може да се изтрива</a:t>
            </a:r>
          </a:p>
          <a:p>
            <a:r>
              <a:rPr lang="bg-BG" sz="1800" dirty="0">
                <a:solidFill>
                  <a:schemeClr val="accent3"/>
                </a:solidFill>
              </a:rPr>
              <a:t>Добавена функция , където може задачата да се редактира</a:t>
            </a:r>
          </a:p>
          <a:p>
            <a:r>
              <a:rPr lang="bg-BG" sz="1800" dirty="0">
                <a:solidFill>
                  <a:schemeClr val="accent3"/>
                </a:solidFill>
              </a:rPr>
              <a:t>Добавена функция , където потребителят може да излезе от профила си .</a:t>
            </a:r>
            <a:endParaRPr lang="en-US" sz="1800" dirty="0">
              <a:solidFill>
                <a:schemeClr val="accent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95B21-6F25-498F-BF3A-267060A5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345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5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23188392_Professional services pitch deck_SL_V1.potx" id="{A16A60D7-542B-43C6-BB27-7BA8168B4019}" vid="{8C6CFC53-4DED-4518-8264-5814B6A371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1946EF-A3EA-4ECB-8D9A-56C36FFF407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2DAF9E5-DED4-4A50-A81B-4CC218A03F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DD087A-3273-4D74-8700-4C8E2BE50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pitch deck</Template>
  <TotalTime>83</TotalTime>
  <Words>411</Words>
  <Application>Microsoft Office PowerPoint</Application>
  <PresentationFormat>Widescreen</PresentationFormat>
  <Paragraphs>75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</vt:lpstr>
      <vt:lpstr>Calibri</vt:lpstr>
      <vt:lpstr>Century Gothic</vt:lpstr>
      <vt:lpstr>Gill Sans MT</vt:lpstr>
      <vt:lpstr>Microsoft Sans Serif</vt:lpstr>
      <vt:lpstr>Wingdings</vt:lpstr>
      <vt:lpstr>Office Theme</vt:lpstr>
      <vt:lpstr>Система за разпределяне на задачи за няколко човека</vt:lpstr>
      <vt:lpstr>Описание на проекта </vt:lpstr>
      <vt:lpstr>Бюджет</vt:lpstr>
      <vt:lpstr>Разпределяне на работа на бюджета</vt:lpstr>
      <vt:lpstr>Разпределение на бюджета</vt:lpstr>
      <vt:lpstr>Система за управление на проекта</vt:lpstr>
      <vt:lpstr>Система за управление на проекта</vt:lpstr>
      <vt:lpstr>Недостатъци на Jira</vt:lpstr>
      <vt:lpstr>Методология за разработка - Kanban</vt:lpstr>
      <vt:lpstr>Система за контрол на версиите</vt:lpstr>
      <vt:lpstr>PowerPoint Presentation</vt:lpstr>
      <vt:lpstr>WBS</vt:lpstr>
      <vt:lpstr>Kраен продукт</vt:lpstr>
      <vt:lpstr>Възможности за бъдеща разработка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за разпределяне на задачи за няколко човека</dc:title>
  <dc:creator>Kostov, Iliyan</dc:creator>
  <cp:lastModifiedBy>Kostov, Iliyan</cp:lastModifiedBy>
  <cp:revision>16</cp:revision>
  <dcterms:created xsi:type="dcterms:W3CDTF">2022-05-09T15:26:51Z</dcterms:created>
  <dcterms:modified xsi:type="dcterms:W3CDTF">2022-05-09T16:53:40Z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